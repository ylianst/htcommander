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37C8E8"/>
                </a:solidFill>
                <a:latin typeface="Segoe UI"/>
              </a:rPr>
              <a:t>HTCommander  ·  Signal 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7200" b="1" i="0">
                <a:solidFill>
                  <a:srgbClr val="E8EEF5"/>
                </a:solidFill>
                <a:latin typeface="Segoe UI"/>
              </a:rPr>
              <a:t>DART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5B741"/>
                </a:solidFill>
                <a:latin typeface="Segoe UI"/>
              </a:rPr>
              <a:t>Data Adaptive Rate Transport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023360"/>
            <a:ext cx="1051560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9AA8BD"/>
                </a:solidFill>
                <a:latin typeface="Segoe UI"/>
              </a:rPr>
              <a:t>A coherent, adaptive OFDM modem for sending data through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9AA8BD"/>
                </a:solidFill>
                <a:latin typeface="Segoe UI"/>
              </a:rPr>
              <a:t>ordinary FM voice radios over a Bluetooth (SBC) audio link.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5212080"/>
            <a:ext cx="2194560" cy="384048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400" b="1">
                <a:solidFill>
                  <a:srgbClr val="37C8E8"/>
                </a:solidFill>
                <a:latin typeface="Segoe UI"/>
              </a:rPr>
              <a:t>DFT-spread OFDM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5212080"/>
            <a:ext cx="1737360" cy="384048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400" b="1">
                <a:solidFill>
                  <a:srgbClr val="37C8E8"/>
                </a:solidFill>
                <a:latin typeface="Segoe UI"/>
              </a:rPr>
              <a:t>LDPC FEC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5212080"/>
            <a:ext cx="2468880" cy="384048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400" b="1">
                <a:solidFill>
                  <a:srgbClr val="37C8E8"/>
                </a:solidFill>
                <a:latin typeface="Segoe UI"/>
              </a:rPr>
              <a:t>Adaptive 1–6 kbps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5212080"/>
            <a:ext cx="2560320" cy="384048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8288" bIns="18288"/>
          <a:lstStyle/>
          <a:p>
            <a:pPr algn="ctr"/>
            <a:r>
              <a:rPr sz="1400" b="1">
                <a:solidFill>
                  <a:srgbClr val="5BD68A"/>
                </a:solidFill>
                <a:latin typeface="Segoe UI"/>
              </a:rPr>
              <a:t>Validated over the 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9AA8BD"/>
                </a:solidFill>
                <a:latin typeface="Segoe UI"/>
              </a:rPr>
              <a:t>How the protocol works — encoding &amp; decoding pipeline, end to end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The problem: data over an FM voice channel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>
                <a:solidFill>
                  <a:srgbClr val="37C8E8"/>
                </a:solidFill>
                <a:latin typeface="Segoe UI"/>
              </a:rPr>
              <a:t>▸  </a:t>
            </a:r>
            <a:r>
              <a:rPr sz="1800" b="0">
                <a:solidFill>
                  <a:srgbClr val="E8EEF5"/>
                </a:solidFill>
                <a:latin typeface="Segoe UI"/>
              </a:rPr>
              <a:t>Ham handhelds give you a voice channel — not a data port.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>
                <a:solidFill>
                  <a:srgbClr val="9AA8BD"/>
                </a:solidFill>
                <a:latin typeface="Segoe UI"/>
              </a:rPr>
              <a:t>    –  </a:t>
            </a:r>
            <a:r>
              <a:rPr sz="1600" b="0">
                <a:solidFill>
                  <a:srgbClr val="E8EEF5"/>
                </a:solidFill>
                <a:latin typeface="Segoe UI"/>
              </a:rPr>
              <a:t>To move data you must encode it as audio the radio will pass.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>
                <a:solidFill>
                  <a:srgbClr val="37C8E8"/>
                </a:solidFill>
                <a:latin typeface="Segoe UI"/>
              </a:rPr>
              <a:t>▸  </a:t>
            </a:r>
            <a:r>
              <a:rPr sz="1800" b="0">
                <a:solidFill>
                  <a:srgbClr val="E8EEF5"/>
                </a:solidFill>
                <a:latin typeface="Segoe UI"/>
              </a:rPr>
              <a:t>Legacy modes are slow.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>
                <a:solidFill>
                  <a:srgbClr val="9AA8BD"/>
                </a:solidFill>
                <a:latin typeface="Segoe UI"/>
              </a:rPr>
              <a:t>    –  </a:t>
            </a:r>
            <a:r>
              <a:rPr sz="1600" b="0">
                <a:solidFill>
                  <a:srgbClr val="E8EEF5"/>
                </a:solidFill>
                <a:latin typeface="Segoe UI"/>
              </a:rPr>
              <a:t>AFSK 1200 bps and PSK 2400 bps are the common options.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>
                <a:solidFill>
                  <a:srgbClr val="37C8E8"/>
                </a:solidFill>
                <a:latin typeface="Segoe UI"/>
              </a:rPr>
              <a:t>▸  </a:t>
            </a:r>
            <a:r>
              <a:rPr sz="1800" b="0">
                <a:solidFill>
                  <a:srgbClr val="E8EEF5"/>
                </a:solidFill>
                <a:latin typeface="Segoe UI"/>
              </a:rPr>
              <a:t>The path is genuinely hostile to data.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>
                <a:solidFill>
                  <a:srgbClr val="9AA8BD"/>
                </a:solidFill>
                <a:latin typeface="Segoe UI"/>
              </a:rPr>
              <a:t>    –  </a:t>
            </a:r>
            <a:r>
              <a:rPr sz="1600" b="0">
                <a:solidFill>
                  <a:srgbClr val="E8EEF5"/>
                </a:solidFill>
                <a:latin typeface="Segoe UI"/>
              </a:rPr>
              <a:t>FM audio + AGC + limiter + companding distort amplitude &amp; phase.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>
                <a:solidFill>
                  <a:srgbClr val="9AA8BD"/>
                </a:solidFill>
                <a:latin typeface="Segoe UI"/>
              </a:rPr>
              <a:t>    –  </a:t>
            </a:r>
            <a:r>
              <a:rPr sz="1600" b="0">
                <a:solidFill>
                  <a:srgbClr val="E8EEF5"/>
                </a:solidFill>
                <a:latin typeface="Segoe UI"/>
              </a:rPr>
              <a:t>On modern radios audio rides a Bluetooth SBC codec — twice.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800">
                <a:solidFill>
                  <a:srgbClr val="37C8E8"/>
                </a:solidFill>
                <a:latin typeface="Segoe UI"/>
              </a:rPr>
              <a:t>▸  </a:t>
            </a:r>
            <a:r>
              <a:rPr sz="1800" b="0">
                <a:solidFill>
                  <a:srgbClr val="E8EEF5"/>
                </a:solidFill>
                <a:latin typeface="Segoe UI"/>
              </a:rPr>
              <a:t>Goal: 1–6 kbps that degrades gracefully, not a cliff.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463040"/>
            <a:ext cx="4937760" cy="40233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57276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B741"/>
                </a:solidFill>
                <a:latin typeface="Segoe UI"/>
              </a:rPr>
              <a:t>The real-world signal chain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01952"/>
            <a:ext cx="457200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37C8E8"/>
                </a:solidFill>
                <a:latin typeface="Consolas"/>
              </a:rPr>
              <a:t>app  ──PCM──▶  Bluetooth SBC  ──▶  radio TX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AA8BD"/>
                </a:solidFill>
                <a:latin typeface="Consolas"/>
              </a:rPr>
              <a:t>                                    │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AA8BD"/>
                </a:solidFill>
                <a:latin typeface="Consolas"/>
              </a:rPr>
              <a:t>                                 FM over air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9AA8BD"/>
                </a:solidFill>
                <a:latin typeface="Consolas"/>
              </a:rPr>
              <a:t>                                    ▼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37C8E8"/>
                </a:solidFill>
                <a:latin typeface="Consolas"/>
              </a:rPr>
              <a:t>app  ◀──PCM──  Bluetooth SBC  ◀──  radio RX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8EEF5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8EEF5"/>
                </a:solidFill>
                <a:latin typeface="Consolas"/>
              </a:rPr>
              <a:t>Every frame crosses the lossy SBC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8EEF5"/>
                </a:solidFill>
                <a:latin typeface="Consolas"/>
              </a:rPr>
              <a:t>codec TWICE — once on each hop.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E8EEF5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F5B741"/>
                </a:solidFill>
                <a:latin typeface="Consolas"/>
              </a:rPr>
              <a:t>DART must survive all of it and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500">
                <a:solidFill>
                  <a:srgbClr val="F5B741"/>
                </a:solidFill>
                <a:latin typeface="Consolas"/>
              </a:rPr>
              <a:t>still verify every byte with a CRC.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CHANNEL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What the FM-over-SBC channel actually looks like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463040"/>
          <a:ext cx="6583680" cy="38039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466344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Property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Behavior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Sample rate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32 kHz, 16-bit, mono PCM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Usable band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~400–2600 Hz (flat within ~2 dB)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Unusable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&lt; 300 Hz (AC-coupled), &gt; 3000 Hz (SBC rolloff)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Channel type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Static band-pass — no fading, no multipath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Amplitude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Mildly compressed (AGC + limiter + SBC)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Noise floor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FM noise + SBC quantization; SNR ~20–25 dB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Delay spread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Negligible (&lt; 125 µs)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589520" y="1554480"/>
            <a:ext cx="40233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The channel is STATIC.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One training preamble is enough to estimate &amp; equalize it.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No continuous adaptive equalizer needed.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The real enemy is time-varying phase, not the band shape.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A static response is removed by the equalizer.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Carrier phase noise is what limits the dense modes.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Five ideas that make DART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3456432" cy="224028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82296" cy="224028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709928"/>
            <a:ext cx="2999232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7C8E8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21992"/>
            <a:ext cx="2999232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5"/>
                </a:solidFill>
                <a:latin typeface="Segoe UI"/>
              </a:rPr>
              <a:t>DFT-spread OFDM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15768"/>
            <a:ext cx="2999232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Frequency-domain equalization with single-carrier-low PAPR. Puts energy only in the usable 400–2600 Hz band.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61104" y="1508760"/>
            <a:ext cx="3456432" cy="224028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61104" y="1508760"/>
            <a:ext cx="82296" cy="2240280"/>
          </a:xfrm>
          <a:prstGeom prst="rect">
            <a:avLst/>
          </a:prstGeom>
          <a:solidFill>
            <a:srgbClr val="F5B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17136" y="1709928"/>
            <a:ext cx="2999232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5B741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17136" y="2221992"/>
            <a:ext cx="2999232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5"/>
                </a:solidFill>
                <a:latin typeface="Segoe UI"/>
              </a:rPr>
              <a:t>Adaptive rate ladder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715768"/>
            <a:ext cx="2999232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Seven modes (BPSK→16QAM + FSK). Each frame is self-describing, so the link trades speed for robustness on the fly.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82128" y="1508760"/>
            <a:ext cx="3456432" cy="224028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882128" y="1508760"/>
            <a:ext cx="82296" cy="2240280"/>
          </a:xfrm>
          <a:prstGeom prst="rect">
            <a:avLst/>
          </a:prstGeom>
          <a:solidFill>
            <a:srgbClr val="5B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0" y="1709928"/>
            <a:ext cx="2999232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5BD68A"/>
                </a:solidFill>
                <a:latin typeface="Segoe U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221992"/>
            <a:ext cx="2999232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5"/>
                </a:solidFill>
                <a:latin typeface="Segoe UI"/>
              </a:rPr>
              <a:t>LDPC forward error correction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60" y="2715768"/>
            <a:ext cx="2999232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Soft-decision belief-propagation decoding. Four code rates (1/2 → 5/6) matched to the modulation.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50208"/>
            <a:ext cx="3456432" cy="224028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950208"/>
            <a:ext cx="82296" cy="224028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151376"/>
            <a:ext cx="2999232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7C8E8"/>
                </a:solidFill>
                <a:latin typeface="Segoe U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663440"/>
            <a:ext cx="2999232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5"/>
                </a:solidFill>
                <a:latin typeface="Segoe UI"/>
              </a:rPr>
              <a:t>Self-describing frames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157216"/>
            <a:ext cx="2999232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A robust mode-0 header lets ANY receiver decode any frame with no prior negotiation — broadcast &amp; monitoring work.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61104" y="3950208"/>
            <a:ext cx="3456432" cy="224028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61104" y="3950208"/>
            <a:ext cx="82296" cy="2240280"/>
          </a:xfrm>
          <a:prstGeom prst="rect">
            <a:avLst/>
          </a:prstGeom>
          <a:solidFill>
            <a:srgbClr val="F5B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17136" y="4151376"/>
            <a:ext cx="2999232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5B741"/>
                </a:solidFill>
                <a:latin typeface="Segoe U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17136" y="4663440"/>
            <a:ext cx="2999232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8EEF5"/>
                </a:solidFill>
                <a:latin typeface="Segoe UI"/>
              </a:rPr>
              <a:t>Constant-envelope 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17136" y="5157216"/>
            <a:ext cx="2999232" cy="9144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Mode F (4-FSK) is immune to amplitude distortion — the guaranteed-delivery floor when nothing else survives.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WAVEFORM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Why DFT-spread OFDM (SC-FDMA)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>
                <a:solidFill>
                  <a:srgbClr val="37C8E8"/>
                </a:solidFill>
                <a:latin typeface="Segoe UI"/>
              </a:rPr>
              <a:t>▸  </a:t>
            </a:r>
            <a:r>
              <a:rPr sz="1700" b="0">
                <a:solidFill>
                  <a:srgbClr val="E8EEF5"/>
                </a:solidFill>
                <a:latin typeface="Segoe UI"/>
              </a:rPr>
              <a:t>OFDM: many slow subcarriers across the band.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>
                <a:solidFill>
                  <a:srgbClr val="9AA8BD"/>
                </a:solidFill>
                <a:latin typeface="Segoe UI"/>
              </a:rPr>
              <a:t>    –  </a:t>
            </a:r>
            <a:r>
              <a:rPr sz="1500" b="0">
                <a:solidFill>
                  <a:srgbClr val="E8EEF5"/>
                </a:solidFill>
                <a:latin typeface="Segoe UI"/>
              </a:rPr>
              <a:t>Turns a frequency-selective channel into flat per-bin gains.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>
                <a:solidFill>
                  <a:srgbClr val="9AA8BD"/>
                </a:solidFill>
                <a:latin typeface="Segoe UI"/>
              </a:rPr>
              <a:t>    –  </a:t>
            </a:r>
            <a:r>
              <a:rPr sz="1500" b="0">
                <a:solidFill>
                  <a:srgbClr val="E8EEF5"/>
                </a:solidFill>
                <a:latin typeface="Segoe UI"/>
              </a:rPr>
              <a:t>Equalization is a single complex divide per subcarrier.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>
                <a:solidFill>
                  <a:srgbClr val="37C8E8"/>
                </a:solidFill>
                <a:latin typeface="Segoe UI"/>
              </a:rPr>
              <a:t>▸  </a:t>
            </a:r>
            <a:r>
              <a:rPr sz="1700" b="0">
                <a:solidFill>
                  <a:srgbClr val="E8EEF5"/>
                </a:solidFill>
                <a:latin typeface="Segoe UI"/>
              </a:rPr>
              <a:t>DFT-spread = SC-FDMA precoding.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>
                <a:solidFill>
                  <a:srgbClr val="9AA8BD"/>
                </a:solidFill>
                <a:latin typeface="Segoe UI"/>
              </a:rPr>
              <a:t>    –  </a:t>
            </a:r>
            <a:r>
              <a:rPr sz="1500" b="0">
                <a:solidFill>
                  <a:srgbClr val="E8EEF5"/>
                </a:solidFill>
                <a:latin typeface="Segoe UI"/>
              </a:rPr>
              <a:t>Spreads each symbol across all tones before the IFFT.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>
                <a:solidFill>
                  <a:srgbClr val="9AA8BD"/>
                </a:solidFill>
                <a:latin typeface="Segoe UI"/>
              </a:rPr>
              <a:t>    –  </a:t>
            </a:r>
            <a:r>
              <a:rPr sz="1500" b="0">
                <a:solidFill>
                  <a:srgbClr val="E8EEF5"/>
                </a:solidFill>
                <a:latin typeface="Segoe UI"/>
              </a:rPr>
              <a:t>Restores single-carrier-like low PAPR → less limiter crush.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>
                <a:solidFill>
                  <a:srgbClr val="37C8E8"/>
                </a:solidFill>
                <a:latin typeface="Segoe UI"/>
              </a:rPr>
              <a:t>▸  </a:t>
            </a:r>
            <a:r>
              <a:rPr sz="1700" b="0">
                <a:solidFill>
                  <a:srgbClr val="E8EEF5"/>
                </a:solidFill>
                <a:latin typeface="Segoe UI"/>
              </a:rPr>
              <a:t>Measured PAPR reduction: ~1.3–2.0 dB vs plain OFDM.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700">
                <a:solidFill>
                  <a:srgbClr val="9AA8BD"/>
                </a:solidFill>
                <a:latin typeface="Segoe UI"/>
              </a:rPr>
              <a:t>    –  </a:t>
            </a:r>
            <a:r>
              <a:rPr sz="1500" b="0">
                <a:solidFill>
                  <a:srgbClr val="E8EEF5"/>
                </a:solidFill>
                <a:latin typeface="Segoe UI"/>
              </a:rPr>
              <a:t>Headroom against the FM limiter / AGC.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554480"/>
          <a:ext cx="5029200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554480"/>
                <a:gridCol w="155448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Constellation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Plain OFDM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SC-FDMA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BPSK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10.5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5BD68A"/>
                          </a:solidFill>
                          <a:latin typeface="Segoe UI"/>
                        </a:rPr>
                        <a:t>8.5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QPSK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10.7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5BD68A"/>
                          </a:solidFill>
                          <a:latin typeface="Segoe UI"/>
                        </a:rPr>
                        <a:t>8.8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8PSK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10.7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5BD68A"/>
                          </a:solidFill>
                          <a:latin typeface="Segoe UI"/>
                        </a:rPr>
                        <a:t>8.8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16QAM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10.6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5BD68A"/>
                          </a:solidFill>
                          <a:latin typeface="Segoe UI"/>
                        </a:rPr>
                        <a:t>9.3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4114800"/>
            <a:ext cx="502920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A8BD"/>
                </a:solidFill>
                <a:latin typeface="Segoe UI"/>
              </a:rPr>
              <a:t>99th-percentile peak-to-average power ratio.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AA8BD"/>
                </a:solidFill>
                <a:latin typeface="Segoe UI"/>
              </a:rPr>
              <a:t>Lower PAPR = the waveform's peaks are closer to its average, so the radio's limiter clips it less.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OFDM physical-layer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54480"/>
          <a:ext cx="5486400" cy="35844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86000"/>
                <a:gridCol w="3200400"/>
              </a:tblGrid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Sample rate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32 kHz, 16-bit, mono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FFT size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128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Subcarrier spacing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250 Hz (32 kHz / 128)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Active subcarriers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9  (bins 2–10, ≈500–2600 Hz)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Cyclic prefix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4 samples = 125 µs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Guard padding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256 samples each side (~2 SBC frames)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6400800" y="1554480"/>
            <a:ext cx="5120640" cy="40233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64208"/>
            <a:ext cx="47548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B741"/>
                </a:solidFill>
                <a:latin typeface="Segoe UI"/>
              </a:rPr>
              <a:t>Spectrum occupancy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1993392"/>
            <a:ext cx="4754880" cy="3493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9AA8BD"/>
                </a:solidFill>
                <a:latin typeface="Consolas"/>
              </a:rPr>
              <a:t>freq (Hz)   0    500        2600   3000  ...  16000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>            │░░░░░│█████████│░░░░░░│                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9AA8BD"/>
                </a:solidFill>
                <a:latin typeface="Consolas"/>
              </a:rPr>
              <a:t>             AC-   9 active    SBC                  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9AA8BD"/>
                </a:solidFill>
                <a:latin typeface="Consolas"/>
              </a:rPr>
              <a:t>            coup.  carriers   rolloff                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F5B741"/>
                </a:solidFill>
                <a:latin typeface="Consolas"/>
              </a:rPr>
              <a:t>Only 9 FFT bins carry data — exactly the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F5B741"/>
                </a:solidFill>
                <a:latin typeface="Consolas"/>
              </a:rPr>
              <a:t>part of the band the radio passes cleanly.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>Short CP (125 µs) is a deliberate bet: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>FM at these ranges has ~no multipath, so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>a long CP would just waste airtime.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Frame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1280160" cy="914400"/>
          </a:xfrm>
          <a:prstGeom prst="rect">
            <a:avLst/>
          </a:prstGeom>
          <a:solidFill>
            <a:srgbClr val="9AA8BD"/>
          </a:solidFill>
          <a:ln w="25400">
            <a:solidFill>
              <a:srgbClr val="0E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1422"/>
                </a:solidFill>
                <a:latin typeface="Segoe UI"/>
              </a:rPr>
              <a:t>Guard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1920240" y="1554480"/>
            <a:ext cx="2377440" cy="914400"/>
          </a:xfrm>
          <a:prstGeom prst="rect">
            <a:avLst/>
          </a:prstGeom>
          <a:solidFill>
            <a:srgbClr val="37C8E8"/>
          </a:solidFill>
          <a:ln w="25400">
            <a:solidFill>
              <a:srgbClr val="0E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1422"/>
                </a:solidFill>
                <a:latin typeface="Segoe UI"/>
              </a:rPr>
              <a:t>Zadoff-Chu</a:t>
            </a:r>
          </a:p>
          <a:p>
            <a:pPr algn="ctr"/>
            <a:r>
              <a:rPr sz="1300" b="1">
                <a:solidFill>
                  <a:srgbClr val="0E1422"/>
                </a:solidFill>
                <a:latin typeface="Segoe UI"/>
              </a:rPr>
              <a:t>preamble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2194560" cy="914400"/>
          </a:xfrm>
          <a:prstGeom prst="rect">
            <a:avLst/>
          </a:prstGeom>
          <a:solidFill>
            <a:srgbClr val="F5B741"/>
          </a:solidFill>
          <a:ln w="25400">
            <a:solidFill>
              <a:srgbClr val="0E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1422"/>
                </a:solidFill>
                <a:latin typeface="Segoe UI"/>
              </a:rPr>
              <a:t>Header</a:t>
            </a:r>
          </a:p>
          <a:p>
            <a:pPr algn="ctr"/>
            <a:r>
              <a:rPr sz="1300" b="1">
                <a:solidFill>
                  <a:srgbClr val="0E1422"/>
                </a:solidFill>
                <a:latin typeface="Segoe UI"/>
              </a:rPr>
              <a:t>(mode 0)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1554480"/>
            <a:ext cx="3840480" cy="914400"/>
          </a:xfrm>
          <a:prstGeom prst="rect">
            <a:avLst/>
          </a:prstGeom>
          <a:solidFill>
            <a:srgbClr val="5BD68A"/>
          </a:solidFill>
          <a:ln w="25400">
            <a:solidFill>
              <a:srgbClr val="0E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1422"/>
                </a:solidFill>
                <a:latin typeface="Segoe UI"/>
              </a:rPr>
              <a:t>Payload</a:t>
            </a:r>
          </a:p>
          <a:p>
            <a:pPr algn="ctr"/>
            <a:r>
              <a:rPr sz="1300" b="1">
                <a:solidFill>
                  <a:srgbClr val="0E1422"/>
                </a:solidFill>
                <a:latin typeface="Segoe UI"/>
              </a:rPr>
              <a:t>(variable mode)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332720" y="1554480"/>
            <a:ext cx="1280160" cy="914400"/>
          </a:xfrm>
          <a:prstGeom prst="rect">
            <a:avLst/>
          </a:prstGeom>
          <a:solidFill>
            <a:srgbClr val="9AA8BD"/>
          </a:solidFill>
          <a:ln w="25400">
            <a:solidFill>
              <a:srgbClr val="0E14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E1422"/>
                </a:solidFill>
                <a:latin typeface="Segoe UI"/>
              </a:rPr>
              <a:t>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37C8E8"/>
                </a:solidFill>
                <a:latin typeface="Segoe UI"/>
              </a:rPr>
              <a:t>Preamble  </a:t>
            </a:r>
            <a:r>
              <a:rPr sz="1500" b="0">
                <a:solidFill>
                  <a:srgbClr val="E8EEF5"/>
                </a:solidFill>
                <a:latin typeface="Segoe UI"/>
              </a:rPr>
              <a:t>— Zadoff-Chu (root 7, len 127) + 1 channel-estimation symbol. Constant-envelope, same for every mode.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F5B741"/>
                </a:solidFill>
                <a:latin typeface="Segoe UI"/>
              </a:rPr>
              <a:t>Header  </a:t>
            </a:r>
            <a:r>
              <a:rPr sz="1500" b="0">
                <a:solidFill>
                  <a:srgbClr val="E8EEF5"/>
                </a:solidFill>
                <a:latin typeface="Segoe UI"/>
              </a:rPr>
              <a:t>— ALWAYS mode 0 (BPSK R1/2), so any receiver can read it regardless of link quality.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5BD68A"/>
                </a:solidFill>
                <a:latin typeface="Segoe UI"/>
              </a:rPr>
              <a:t>Payload  </a:t>
            </a:r>
            <a:r>
              <a:rPr sz="1500" b="0">
                <a:solidFill>
                  <a:srgbClr val="E8EEF5"/>
                </a:solidFill>
                <a:latin typeface="Segoe UI"/>
              </a:rPr>
              <a:t>— modulated &amp; coded per the mode index in the header.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100"/>
              </a:spcAft>
            </a:pPr>
            <a:r>
              <a:rPr sz="1700" b="1">
                <a:solidFill>
                  <a:srgbClr val="9AA8BD"/>
                </a:solidFill>
                <a:latin typeface="Segoe UI"/>
              </a:rPr>
              <a:t>Guard  </a:t>
            </a:r>
            <a:r>
              <a:rPr sz="1500" b="0">
                <a:solidFill>
                  <a:srgbClr val="E8EEF5"/>
                </a:solidFill>
                <a:latin typeface="Segoe UI"/>
              </a:rPr>
              <a:t>— 256 samples so the SBC filterbank warms up &amp; flushes without corrupting the frame.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2834640"/>
          <a:ext cx="5120639" cy="29260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49039"/>
                <a:gridCol w="1371600"/>
              </a:tblGrid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1422"/>
                          </a:solidFill>
                          <a:latin typeface="Segoe UI"/>
                        </a:rPr>
                        <a:t>Header field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E1422"/>
                          </a:solidFill>
                          <a:latin typeface="Segoe UI"/>
                        </a:rPr>
                        <a:t>Bits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Mode index (0–5, F)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Payload length (bytes)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Source callsign (AX.25)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48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Destination callsign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48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Sequence number (ARQ)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Flags (ACK/NACK/data/bcast)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Header CRC-16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RATE LADDER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The adaptive mode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1088136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2103120"/>
                <a:gridCol w="1463040"/>
                <a:gridCol w="1280160"/>
                <a:gridCol w="2377440"/>
                <a:gridCol w="274320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Mode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Constellation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LDPC rate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Bits/sym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Net throughput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Role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BPSK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~1 kbps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D68A"/>
                          </a:solidFill>
                          <a:latin typeface="Segoe UI"/>
                        </a:rPr>
                        <a:t>most robust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QPSK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~2 kbps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robust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QPSK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2/3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~3 kbps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F5B741"/>
                          </a:solidFill>
                          <a:latin typeface="Segoe UI"/>
                        </a:rPr>
                        <a:t>real-link ceiling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8PSK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2/3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~4 kbps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needs ~13 dB SNR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16QAM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3/4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~5 kbps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needs ~16 dB SNR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16QAM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5/6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~6 kbps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fastest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F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4-CPFSK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~1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~0.4 kbps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6A6A"/>
                          </a:solidFill>
                          <a:latin typeface="Segoe UI"/>
                        </a:rPr>
                        <a:t>constant-envelope floor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5349240"/>
            <a:ext cx="10881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Modes 0–5 share ONE OFDM modulator/demodulator — only the constellation lookup and LDPC rate change.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Mode F uses a separate constant-envelope FSK modulator but shares the header, LDPC, interleaver, scrambler, CRC and ARQ.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ENCODING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Transmit pipeline — bytes to PCM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3566160" cy="457200"/>
          </a:xfrm>
          <a:prstGeom prst="rect">
            <a:avLst/>
          </a:prstGeom>
          <a:solidFill>
            <a:srgbClr val="1C2A42"/>
          </a:solidFill>
          <a:ln w="15875">
            <a:solidFill>
              <a:srgbClr val="37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8132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Segoe UI"/>
              </a:rPr>
              <a:t>1.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Payload bytes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481328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the AX.25 frame to send</a:t>
            </a:r>
          </a:p>
        </p:txBody>
      </p:sp>
      <p:sp>
        <p:nvSpPr>
          <p:cNvPr id="9" name="Down Arrow 8"/>
          <p:cNvSpPr/>
          <p:nvPr/>
        </p:nvSpPr>
        <p:spPr>
          <a:xfrm>
            <a:off x="2286000" y="1920240"/>
            <a:ext cx="182880" cy="68580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970532"/>
            <a:ext cx="356616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8882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Segoe UI"/>
              </a:rPr>
              <a:t>2.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Append CRC-32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988820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integrity check over the payload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286000" y="2427732"/>
            <a:ext cx="182880" cy="68580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478024"/>
            <a:ext cx="356616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9631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Segoe UI"/>
              </a:rPr>
              <a:t>3.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LDPC encode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496312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systematic [data | parity], rate per mode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286000" y="2935224"/>
            <a:ext cx="182880" cy="68580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985516"/>
            <a:ext cx="356616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00380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Segoe UI"/>
              </a:rPr>
              <a:t>4.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Interleave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3003804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block interleave — break SBC burst errors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286000" y="3442716"/>
            <a:ext cx="182880" cy="68580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493008"/>
            <a:ext cx="3566160" cy="457200"/>
          </a:xfrm>
          <a:prstGeom prst="rect">
            <a:avLst/>
          </a:prstGeom>
          <a:solidFill>
            <a:srgbClr val="1C2A42"/>
          </a:solidFill>
          <a:ln w="15875">
            <a:solidFill>
              <a:srgbClr val="F5B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511296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B741"/>
                </a:solidFill>
                <a:latin typeface="Segoe UI"/>
              </a:rPr>
              <a:t>5.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Scramble (PN15)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511296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whiten coded bits → flat spectrum, low PAPR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286000" y="3950208"/>
            <a:ext cx="182880" cy="68580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000500"/>
            <a:ext cx="356616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18788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Segoe UI"/>
              </a:rPr>
              <a:t>6.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Constellation map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018788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BPSK / QPSK / 8PSK / 16QAM (Gray-coded)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286000" y="4457700"/>
            <a:ext cx="182880" cy="68580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507992"/>
            <a:ext cx="356616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526280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Segoe UI"/>
              </a:rPr>
              <a:t>7.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DFT-spread + OFDM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4526280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SC-FDMA precode → IFFT → cyclic prefix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286000" y="4965192"/>
            <a:ext cx="182880" cy="68580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5015484"/>
            <a:ext cx="3566160" cy="45720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5033772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Segoe UI"/>
              </a:rPr>
              <a:t>8.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Assemble frame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5033772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preamble + header + payload + guard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2286000" y="5472684"/>
            <a:ext cx="182880" cy="68580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522976"/>
            <a:ext cx="3566160" cy="457200"/>
          </a:xfrm>
          <a:prstGeom prst="rect">
            <a:avLst/>
          </a:prstGeom>
          <a:solidFill>
            <a:srgbClr val="1C2A42"/>
          </a:solidFill>
          <a:ln w="15875">
            <a:solidFill>
              <a:srgbClr val="5B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541264"/>
            <a:ext cx="338328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5BD68A"/>
                </a:solidFill>
                <a:latin typeface="Segoe UI"/>
              </a:rPr>
              <a:t>9.  </a:t>
            </a:r>
            <a:r>
              <a:rPr sz="1500" b="1" i="0">
                <a:solidFill>
                  <a:srgbClr val="E8EEF5"/>
                </a:solidFill>
                <a:latin typeface="Segoe UI"/>
              </a:rPr>
              <a:t>32 kHz PCM 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5541264"/>
            <a:ext cx="6949440" cy="420624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to the radio over Bluetooth SBC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DECODING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Receive pipeline — PCM back to bytes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3931920" cy="420624"/>
          </a:xfrm>
          <a:prstGeom prst="rect">
            <a:avLst/>
          </a:prstGeom>
          <a:solidFill>
            <a:srgbClr val="1C2A42"/>
          </a:solidFill>
          <a:ln w="15875">
            <a:solidFill>
              <a:srgbClr val="37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2646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1.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32 kHz PCM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600" y="142646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rolling buffer of samples from the radio</a:t>
            </a:r>
          </a:p>
        </p:txBody>
      </p:sp>
      <p:sp>
        <p:nvSpPr>
          <p:cNvPr id="9" name="Down Arrow 8"/>
          <p:cNvSpPr/>
          <p:nvPr/>
        </p:nvSpPr>
        <p:spPr>
          <a:xfrm>
            <a:off x="2468880" y="183794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897380"/>
            <a:ext cx="3931920" cy="420624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0652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2.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Detect preamble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190652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Zadoff-Chu correlation → frame start + timing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2468880" y="231800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3931920" cy="420624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8658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3.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Estimate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238658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H[k] = Y/X per subcarrier from the preamble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2468880" y="279806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2857500"/>
            <a:ext cx="3931920" cy="420624"/>
          </a:xfrm>
          <a:prstGeom prst="rect">
            <a:avLst/>
          </a:prstGeom>
          <a:solidFill>
            <a:srgbClr val="1C2A42"/>
          </a:solidFill>
          <a:ln w="15875">
            <a:solidFill>
              <a:srgbClr val="F5B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286664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B741"/>
                </a:solidFill>
                <a:latin typeface="Segoe UI"/>
              </a:rPr>
              <a:t>4.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Decode header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00600" y="286664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always mode 0 (BPSK R1/2) → mode, length, calls</a:t>
            </a:r>
          </a:p>
        </p:txBody>
      </p:sp>
      <p:sp>
        <p:nvSpPr>
          <p:cNvPr id="21" name="Down Arrow 20"/>
          <p:cNvSpPr/>
          <p:nvPr/>
        </p:nvSpPr>
        <p:spPr>
          <a:xfrm>
            <a:off x="2468880" y="327812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3337560"/>
            <a:ext cx="3931920" cy="420624"/>
          </a:xfrm>
          <a:prstGeom prst="rect">
            <a:avLst/>
          </a:prstGeom>
          <a:solidFill>
            <a:srgbClr val="1C2A42"/>
          </a:solidFill>
          <a:ln w="15875">
            <a:solidFill>
              <a:srgbClr val="F5B7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34670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5B741"/>
                </a:solidFill>
                <a:latin typeface="Segoe UI"/>
              </a:rPr>
              <a:t>5.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Refine channel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600" y="334670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re-encode header as extra pilots → kills SBC phase err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2468880" y="375818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3817620"/>
            <a:ext cx="3931920" cy="420624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82676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6.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Demodulate payload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00600" y="382676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FFT → MMSE equalize → de-spread → pilots track phase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2468880" y="423824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4297680"/>
            <a:ext cx="3931920" cy="420624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30682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7.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Soft demap (LLRs)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00600" y="430682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per-bit log-likelihood ratios</a:t>
            </a:r>
          </a:p>
        </p:txBody>
      </p:sp>
      <p:sp>
        <p:nvSpPr>
          <p:cNvPr id="33" name="Down Arrow 32"/>
          <p:cNvSpPr/>
          <p:nvPr/>
        </p:nvSpPr>
        <p:spPr>
          <a:xfrm>
            <a:off x="2468880" y="471830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777740"/>
            <a:ext cx="3931920" cy="420624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78688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8.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Descramble + deinterleave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00600" y="478688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undo PN15 (sign-flip LLRs) + reorder</a:t>
            </a:r>
          </a:p>
        </p:txBody>
      </p:sp>
      <p:sp>
        <p:nvSpPr>
          <p:cNvPr id="37" name="Down Arrow 36"/>
          <p:cNvSpPr/>
          <p:nvPr/>
        </p:nvSpPr>
        <p:spPr>
          <a:xfrm>
            <a:off x="2468880" y="519836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" y="5257800"/>
            <a:ext cx="3931920" cy="420624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" y="526694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9.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LDPC soft decode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00600" y="526694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min-sum belief propagation, ≤ 50 iterations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2468880" y="5678424"/>
            <a:ext cx="164592" cy="77724"/>
          </a:xfrm>
          <a:prstGeom prst="downArrow">
            <a:avLst/>
          </a:prstGeom>
          <a:solidFill>
            <a:srgbClr val="2A38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5737860"/>
            <a:ext cx="3931920" cy="420624"/>
          </a:xfrm>
          <a:prstGeom prst="rect">
            <a:avLst/>
          </a:prstGeom>
          <a:solidFill>
            <a:srgbClr val="1C2A42"/>
          </a:solidFill>
          <a:ln w="15875">
            <a:solidFill>
              <a:srgbClr val="5BD68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" y="5747004"/>
            <a:ext cx="3749039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5BD68A"/>
                </a:solidFill>
                <a:latin typeface="Segoe UI"/>
              </a:rPr>
              <a:t>10.  </a:t>
            </a:r>
            <a:r>
              <a:rPr sz="1400" b="1" i="0">
                <a:solidFill>
                  <a:srgbClr val="E8EEF5"/>
                </a:solidFill>
                <a:latin typeface="Segoe UI"/>
              </a:rPr>
              <a:t>CRC-32 check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800600" y="5747004"/>
            <a:ext cx="6675120" cy="402336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9AA8BD"/>
                </a:solidFill>
                <a:latin typeface="Segoe UI"/>
              </a:rPr>
              <a:t>verified payload → dispatch as a frame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FORWARD ERROR CORRECTION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LDPC — the error-correcting core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IEEE 802.11n information-part connections, N = 648.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Dual-diagonal (IRA accumulator) parity structure.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O(M) systematic encoding at every rate — always succeeds.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Soft-input decoder: min-sum belief propagation.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Input is LLRs: positive → likely 0, negative → likely 1.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Iterative check/variable-node message passing, ≤ 50 iters.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0.75 scaling factor on the min-sum approximation.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Code shortening on short frames (next slide) adds 5+ dB.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0" y="1645920"/>
          <a:ext cx="493776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05840"/>
                <a:gridCol w="1280160"/>
                <a:gridCol w="1371600"/>
                <a:gridCol w="12801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Rate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K (info)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N (coded)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Modes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1/2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324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648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0, 1, F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2/3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432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648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2, 3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3/4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486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648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5/6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540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648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4297680"/>
            <a:ext cx="493776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Systematic code: the K information bits appear verbatim in the codeword, followed by N−K parity bits.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WHITENING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Scrambling — why the modem randomizes its own bits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Repetitive data (a frame of zeros) is poison for QAM.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Spectral lines, PAPR blows up, constellation collapses.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Phase/timing recovery starve on a DC-like stream.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LDPC can't fix it — it's linear.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All-zero input → all-zero codeword. Interleaver just shuffles zeros.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So scramble AFTER LDPC + interleave, before the mapper.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Additive PN15 LFSR, reset per frame.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x¹⁵ + x¹⁴ + 1, period 32,767 &gt; largest frame's coded bits.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1 channel error stays 1 error (no multiplication like G3RUH).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RX descramble = conditional LLR sign-flip — lossless to FEC.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554480"/>
            <a:ext cx="4937760" cy="182880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6420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B741"/>
                </a:solidFill>
                <a:latin typeface="Segoe UI"/>
              </a:rPr>
              <a:t>Where it slots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93392"/>
            <a:ext cx="4572000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37C8E8"/>
                </a:solidFill>
                <a:latin typeface="Consolas"/>
              </a:rPr>
              <a:t>TX:  ... interleave → [SCRAMBLE] → map ...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37C8E8"/>
                </a:solidFill>
                <a:latin typeface="Consolas"/>
              </a:rPr>
              <a:t>RX:  ... soft-demap → [DESCRAMBLE] →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300">
                <a:solidFill>
                  <a:srgbClr val="37C8E8"/>
                </a:solidFill>
                <a:latin typeface="Consolas"/>
              </a:rPr>
              <a:t>                         deinterleave ...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583680" y="3657600"/>
          <a:ext cx="4937760" cy="15087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828800"/>
                <a:gridCol w="13716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0E1422"/>
                          </a:solidFill>
                          <a:latin typeface="Segoe UI"/>
                        </a:rPr>
                        <a:t>Scrambler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E1422"/>
                          </a:solidFill>
                          <a:latin typeface="Segoe UI"/>
                        </a:rPr>
                        <a:t>Error behavior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0E1422"/>
                          </a:solidFill>
                          <a:latin typeface="Segoe UI"/>
                        </a:rPr>
                        <a:t>Soft FEC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E86A6A"/>
                          </a:solidFill>
                          <a:latin typeface="Segoe UI"/>
                        </a:rPr>
                        <a:t>Multiplicative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multiplies ×(taps+1)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corrupts LLRs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300">
                          <a:solidFill>
                            <a:srgbClr val="5BD68A"/>
                          </a:solidFill>
                          <a:latin typeface="Segoe UI"/>
                        </a:rPr>
                        <a:t>Additive (DART)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1 error → 1 error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>
                          <a:solidFill>
                            <a:srgbClr val="E8EEF5"/>
                          </a:solidFill>
                          <a:latin typeface="Segoe UI"/>
                        </a:rPr>
                        <a:t>clean sign-flip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RECEIVER TRICK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Code shortening — free margin on short frames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A short message fills only part of a fixed LDPC block.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The rest is zero-padding — bits whose value we already know.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Tell the decoder those bits are known (pin their LLRs).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Known bits become CONSTRAINTS that tighten parity checks.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The effective code rate collapses → recovers from noisier input.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Purely a smarter receiver — nothing on air changes.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Also strengthens the 144-bit header inside its 324-bit block.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Self-scaling: biggest gain on the shortest frames (ACKs, beacons).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737360"/>
          <a:ext cx="4846320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17520"/>
                <a:gridCol w="1828800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16QAM R5/6, 2-byte frame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Decodes to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Without shortening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6A6A"/>
                          </a:solidFill>
                          <a:latin typeface="Segoe UI"/>
                        </a:rPr>
                        <a:t>+3 dB SNR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With shortening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5BD68A"/>
                          </a:solidFill>
                          <a:latin typeface="Segoe UI"/>
                        </a:rPr>
                        <a:t>−2 dB SNR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3566160"/>
            <a:ext cx="4846320" cy="18288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5BD68A"/>
                </a:solidFill>
                <a:latin typeface="Segoe UI"/>
              </a:rPr>
              <a:t>&gt; 5 dB improvement.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The failure mode even changes: the LDPC code is no longer the bottleneck — the preamble detector gives out first.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SYNC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Synchronization &amp; channel estimation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21945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82296" cy="219456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EEF5"/>
                </a:solidFill>
                <a:latin typeface="Segoe UI"/>
              </a:rPr>
              <a:t>Preamble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Segoe UI"/>
              </a:rPr>
              <a:t>Cross-correlate against the known Zadoff-Chu sequence. Ideal autocorrelation (zero sidelobes) → a sharp, unambiguous peak marks frame start.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349240" cy="21945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82296" cy="2194560"/>
          </a:xfrm>
          <a:prstGeom prst="rect">
            <a:avLst/>
          </a:prstGeom>
          <a:solidFill>
            <a:srgbClr val="F5B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5564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EEF5"/>
                </a:solidFill>
                <a:latin typeface="Segoe UI"/>
              </a:rPr>
              <a:t>Frequency offset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67712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Segoe UI"/>
              </a:rPr>
              <a:t>The preamble's repeated halves rotate in phase by Δf·T. The angle between them gives the carrier frequency offset, corrected by a complex de-rotation.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40"/>
            <a:ext cx="5349240" cy="21945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82296" cy="2194560"/>
          </a:xfrm>
          <a:prstGeom prst="rect">
            <a:avLst/>
          </a:prstGeom>
          <a:solidFill>
            <a:srgbClr val="5B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EEF5"/>
                </a:solidFill>
                <a:latin typeface="Segoe UI"/>
              </a:rPr>
              <a:t>Channel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90872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Segoe UI"/>
              </a:rPr>
              <a:t>Divide the received preamble spectrum by the known transmitted one: H[k] = Y[k] / X[k] at every active subcarrier. One shot — the channel is static.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77640"/>
            <a:ext cx="5349240" cy="21945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977640"/>
            <a:ext cx="82296" cy="219456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17880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EEF5"/>
                </a:solidFill>
                <a:latin typeface="Segoe UI"/>
              </a:rPr>
              <a:t>Equalization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690872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Segoe UI"/>
              </a:rPr>
              <a:t>One complex tap per subcarrier. MMSE: X̂ = H*·Y / (|H|² + σ²) — limits noise blow-up on weak subcarriers vs plain zero-forcing.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KEY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Surviving the Bluetooth SBC codec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The single hardest problem: the SBC codec round-trip.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Left ~29° residual phase error after one channel estimate.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BPSK tolerated it; QPSK and above failed CRC.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Fix: decision-directed channel refinement.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The header always decodes (sent at the most robust mode).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Re-encode it → treat its 72 OFDM symbols as extra pilots.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Average Y·conj(X) across them → far better phase estimate.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Result: every higher-order mode survives the SBC codec.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554480"/>
            <a:ext cx="4937760" cy="393192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664208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B741"/>
                </a:solidFill>
                <a:latin typeface="Segoe UI"/>
              </a:rPr>
              <a:t>Measured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993392"/>
            <a:ext cx="4572000" cy="3401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F5B741"/>
                </a:solidFill>
                <a:latin typeface="Consolas"/>
              </a:rPr>
              <a:t>SBC probe (real UV-Pro hardware):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>  group delay ........ ~73 samples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5BD68A"/>
                </a:solidFill>
                <a:latin typeface="Consolas"/>
              </a:rPr>
              <a:t>  preamble corr ...... ~0.89 (preserved)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5BD68A"/>
                </a:solidFill>
                <a:latin typeface="Consolas"/>
              </a:rPr>
              <a:t>  residual phase ..... 29° → tracked out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>The guard interval absorbs the 73-sample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>delay; correlation stays well above the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>0.6 detection threshold.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EEF5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9AA8BD"/>
                </a:solidFill>
                <a:latin typeface="Consolas"/>
              </a:rPr>
              <a:t>TX stream raised to bitpool 40 (from 18);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9AA8BD"/>
                </a:solidFill>
                <a:latin typeface="Consolas"/>
              </a:rPr>
              <a:t>radio→app return path fixed at 18 by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9AA8BD"/>
                </a:solidFill>
                <a:latin typeface="Consolas"/>
              </a:rPr>
              <a:t>firmware.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CHASING THE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Phase noise &amp; pilot-aided tracking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Over the air, dense modes failed worse than simulation predicted.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The culprit: time-varying carrier phase noise.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Two regimes that look identical on an EVM meter: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Fast (&gt; ~12°/sym): inter-carrier interference — irreducible.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Slow (drifts across the frame): correctable with pilots.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Pilots: known symbols every 8 data symbols.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Give a decision-independent phase reference.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Measured real link: 0.5–1.6°/symbol → slow regime.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Pilots recovered QPSK R2/3: +50% throughput (~2 → ~3 kbps).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737360"/>
          <a:ext cx="484632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20240"/>
                <a:gridCol w="1463040"/>
                <a:gridCol w="146304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Phase drift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With pilots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No pilots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~12°/sym (fast)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6A6A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6A6A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~5°/sym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D68A"/>
                          </a:solidFill>
                          <a:latin typeface="Segoe UI"/>
                        </a:rPr>
                        <a:t>14.5%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17.0%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~2.6°/sym (slow)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D68A"/>
                          </a:solidFill>
                          <a:latin typeface="Segoe UI"/>
                        </a:rPr>
                        <a:t>9.6%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14.5%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3931920"/>
            <a:ext cx="4846320" cy="1645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16QAM EVM at fixed noise. Pilots win when phase is slow, do nothing when it's fast.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F5B741"/>
                </a:solidFill>
                <a:latin typeface="Segoe UI"/>
              </a:rPr>
              <a:t>Remaining 8PSK/16QAM ceiling is raw SNR — a link-budget problem, not DSP.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VERIFIED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Inter-symbol interference &amp; the cyclic prefix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The CP is a guard buffer against channel echoes.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Echo within CP → equalizer folds it in, invisibly.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Echo beyond CP → energy spills: inter-symbol interference.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DART's CP is deliberately short: 4 samples = 125 µs.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Measured: clean knee exactly at the CP boundary.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EVM roughly doubles the moment an echo exceeds 4 samples.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37C8E8"/>
                </a:solidFill>
                <a:latin typeface="Segoe UI"/>
              </a:rPr>
              <a:t>▸  </a:t>
            </a:r>
            <a:r>
              <a:rPr sz="1500" b="0">
                <a:solidFill>
                  <a:srgbClr val="E8EEF5"/>
                </a:solidFill>
                <a:latin typeface="Segoe UI"/>
              </a:rPr>
              <a:t>Real SBC/audio path adds NO dispersion past the CP.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Growing the CP through SBC buys nothing — flat 0.4% EVM.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00">
                <a:solidFill>
                  <a:srgbClr val="9AA8BD"/>
                </a:solidFill>
                <a:latin typeface="Segoe UI"/>
              </a:rPr>
              <a:t>    –  </a:t>
            </a:r>
            <a:r>
              <a:rPr sz="1300" b="0">
                <a:solidFill>
                  <a:srgbClr val="E8EEF5"/>
                </a:solidFill>
                <a:latin typeface="Segoe UI"/>
              </a:rPr>
              <a:t>RF multipath would need a ~37 km path difference to matter.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737360"/>
          <a:ext cx="4297680" cy="2377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371600"/>
                <a:gridCol w="109728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Echo delay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In time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EVM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4 samples (= CP)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125 µs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D68A"/>
                          </a:solidFill>
                          <a:latin typeface="Segoe UI"/>
                        </a:rPr>
                        <a:t>4.2%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5 samples (&gt; CP)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156 µs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6A6A"/>
                          </a:solidFill>
                          <a:latin typeface="Segoe UI"/>
                        </a:rPr>
                        <a:t>7.9%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8 samples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250 µs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6A6A"/>
                          </a:solidFill>
                          <a:latin typeface="Segoe UI"/>
                        </a:rPr>
                        <a:t>11.3%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16 samples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500 µs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6A6A"/>
                          </a:solidFill>
                          <a:latin typeface="Segoe UI"/>
                        </a:rPr>
                        <a:t>14.9%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0" y="4480560"/>
            <a:ext cx="4846320" cy="10972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B741"/>
                </a:solidFill>
                <a:latin typeface="Segoe UI"/>
              </a:rPr>
              <a:t>Verdict: the short-CP bet was safe. ISI is not a DART limiter.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FALLBACK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Mode F — the constant-envelope floor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For amplitude-hostile radios (hard limiting, companding).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4-CPFSK: one of four continuous-phase tones per symbol.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Strictly constant envelope → immune to AGC/limiter/SBC amplitude damage.</a:t>
            </a:r>
          </a:p>
          <a:p>
            <a:pPr lvl="1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9AA8BD"/>
                </a:solidFill>
                <a:latin typeface="Segoe UI"/>
              </a:rPr>
              <a:t>    –  </a:t>
            </a:r>
            <a:r>
              <a:rPr sz="1400" b="0">
                <a:solidFill>
                  <a:srgbClr val="E8EEF5"/>
                </a:solidFill>
                <a:latin typeface="Segoe UI"/>
              </a:rPr>
              <a:t>Non-coherent detection — no channel estimate or phase tracking.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Whole frame (header + payload) is FSK → amplitude-immune end to end.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Shares LDPC, interleaver, scrambler, CRC and ARQ with the OFDM modes.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Cost: ~3× longer on air — the bottom rung of the ladder.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0" y="1737360"/>
          <a:ext cx="4846320" cy="2514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31089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Parameter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0E1422"/>
                          </a:solidFill>
                          <a:latin typeface="Segoe UI"/>
                        </a:rPr>
                        <a:t>Value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Modulation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4-CPFSK, 2 bits/sym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Symbol rate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400 symbols/s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Tones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600/1000/1400/1800 Hz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FEC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>
                          <a:solidFill>
                            <a:srgbClr val="E8EEF5"/>
                          </a:solidFill>
                          <a:latin typeface="Segoe UI"/>
                        </a:rPr>
                        <a:t>LDPC rate 1/2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675120" y="4206240"/>
            <a:ext cx="4846320" cy="146304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4315968"/>
            <a:ext cx="44805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5B741"/>
                </a:solidFill>
                <a:latin typeface="Segoe UI"/>
              </a:rPr>
              <a:t>When nothing else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645152"/>
            <a:ext cx="4480560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F5B741"/>
                </a:solidFill>
                <a:latin typeface="Consolas"/>
              </a:rPr>
              <a:t>8% hard-clip + SBC + 14 dB SNR: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E86A6A"/>
                </a:solidFill>
                <a:latin typeface="Consolas"/>
              </a:rPr>
              <a:t>  16QAM modes ...... 0/5  decoded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00">
                <a:solidFill>
                  <a:srgbClr val="5BD68A"/>
                </a:solidFill>
                <a:latin typeface="Consolas"/>
              </a:rPr>
              <a:t>  Mode F (4-FSK) ... 5/5  decoded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LINK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Delivery: datagrams, ARQ &amp; rate adaptation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5349240" cy="21945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82296" cy="219456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5564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EEF5"/>
                </a:solidFill>
                <a:latin typeface="Segoe UI"/>
              </a:rPr>
              <a:t>Connectionless datagrams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67712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Segoe UI"/>
              </a:rPr>
              <a:t>Fire-and-forget with the broadcast flag. No ACK. The right model for APRS beacons, group chat, and CQ calls — the packet goes to everyone.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554480"/>
            <a:ext cx="5349240" cy="21945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554480"/>
            <a:ext cx="82296" cy="2194560"/>
          </a:xfrm>
          <a:prstGeom prst="rect">
            <a:avLst/>
          </a:prstGeom>
          <a:solidFill>
            <a:srgbClr val="F5B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60" y="175564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EEF5"/>
                </a:solidFill>
                <a:latin typeface="Segoe UI"/>
              </a:rPr>
              <a:t>Connected ARQ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267712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Segoe UI"/>
              </a:rPr>
              <a:t>Sliding send window (default 4 in flight). In-order delivery, ACK per good frame, NACK + selective retransmit of only the lost frame. Keeps the pipe full.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977640"/>
            <a:ext cx="5349240" cy="21945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977640"/>
            <a:ext cx="82296" cy="2194560"/>
          </a:xfrm>
          <a:prstGeom prst="rect">
            <a:avLst/>
          </a:prstGeom>
          <a:solidFill>
            <a:srgbClr val="5B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7880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EEF5"/>
                </a:solidFill>
                <a:latin typeface="Segoe UI"/>
              </a:rPr>
              <a:t>Rate adaptation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690872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Segoe UI"/>
              </a:rPr>
              <a:t>Walks the ladder F→0→1→2→3→4→5: up one rung after 3 clean ACKs, down two on any NACK/timeout. Same MCS idea as Wi-Fi, LTE, VARA.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977640"/>
            <a:ext cx="5349240" cy="219456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977640"/>
            <a:ext cx="82296" cy="219456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4178808"/>
            <a:ext cx="48920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8EEF5"/>
                </a:solidFill>
                <a:latin typeface="Segoe UI"/>
              </a:rPr>
              <a:t>Per-packet metadata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4690872"/>
            <a:ext cx="4846320" cy="1371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9AA8BD"/>
                </a:solidFill>
                <a:latin typeface="Segoe UI"/>
              </a:rPr>
              <a:t>Every frame records direction, mode, EVM, SNR, preamble correlation, retransmits, CRC — the rows the Flutter packet-capture tab renders.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19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FIELD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Over the air: two UV-Pro HTs, 50 ft, 2 m / 70 cm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508760"/>
          <a:ext cx="7498080" cy="28529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1920240"/>
                <a:gridCol w="1188720"/>
                <a:gridCol w="1188720"/>
                <a:gridCol w="1463040"/>
                <a:gridCol w="822960"/>
              </a:tblGrid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Level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Mode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EVM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SNR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Phase drift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0E1422"/>
                          </a:solidFill>
                          <a:latin typeface="Segoe UI"/>
                        </a:rPr>
                        <a:t>CRC</a:t>
                      </a:r>
                    </a:p>
                  </a:txBody>
                  <a:tcPr marL="73152" marR="54864" marT="18288" marB="18288" anchor="ctr">
                    <a:solidFill>
                      <a:srgbClr val="37C8E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BPSK R1/2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~45%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~7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1.6°/sym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D68A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QPSK R1/2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~42%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~7.5 dB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1.3°/sym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D68A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QPSK R2/3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~44%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~7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1.4°/sym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5BD68A"/>
                          </a:solidFill>
                          <a:latin typeface="Segoe UI"/>
                        </a:rPr>
                        <a:t>OK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8PSK R2/3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~34%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~9.4 dB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0.6°/sym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6A6A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73152" marR="54864" marT="18288" marB="18288" anchor="ctr">
                    <a:solidFill>
                      <a:srgbClr val="111A2B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16QAM R3/4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~28%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~11 dB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EEF5"/>
                          </a:solidFill>
                          <a:latin typeface="Segoe UI"/>
                        </a:rPr>
                        <a:t>0.9°/sym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>
                          <a:solidFill>
                            <a:srgbClr val="E86A6A"/>
                          </a:solidFill>
                          <a:latin typeface="Segoe UI"/>
                        </a:rPr>
                        <a:t>fail</a:t>
                      </a:r>
                    </a:p>
                  </a:txBody>
                  <a:tcPr marL="73152" marR="54864" marT="18288" marB="18288" anchor="ctr">
                    <a:solidFill>
                      <a:srgbClr val="162033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412480" y="16002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>
                <a:solidFill>
                  <a:srgbClr val="37C8E8"/>
                </a:solidFill>
                <a:latin typeface="Segoe UI"/>
              </a:rPr>
              <a:t>▸  </a:t>
            </a:r>
            <a:r>
              <a:rPr sz="1400" b="0">
                <a:solidFill>
                  <a:srgbClr val="E8EEF5"/>
                </a:solidFill>
                <a:latin typeface="Segoe UI"/>
              </a:rPr>
              <a:t>Reliable ceiling: Level 2, ~3 kbps.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>
                <a:solidFill>
                  <a:srgbClr val="37C8E8"/>
                </a:solidFill>
                <a:latin typeface="Segoe UI"/>
              </a:rPr>
              <a:t>▸  </a:t>
            </a:r>
            <a:r>
              <a:rPr sz="1400" b="0">
                <a:solidFill>
                  <a:srgbClr val="E8EEF5"/>
                </a:solidFill>
                <a:latin typeface="Segoe UI"/>
              </a:rPr>
              <a:t>Textbook graceful degradation.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>
                <a:solidFill>
                  <a:srgbClr val="37C8E8"/>
                </a:solidFill>
                <a:latin typeface="Segoe UI"/>
              </a:rPr>
              <a:t>▸  </a:t>
            </a:r>
            <a:r>
              <a:rPr sz="1400" b="0">
                <a:solidFill>
                  <a:srgbClr val="E8EEF5"/>
                </a:solidFill>
                <a:latin typeface="Segoe UI"/>
              </a:rPr>
              <a:t>Phase noise solved by pilots.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>
                <a:solidFill>
                  <a:srgbClr val="37C8E8"/>
                </a:solidFill>
                <a:latin typeface="Segoe UI"/>
              </a:rPr>
              <a:t>▸  </a:t>
            </a:r>
            <a:r>
              <a:rPr sz="1400" b="0">
                <a:solidFill>
                  <a:srgbClr val="E8EEF5"/>
                </a:solidFill>
                <a:latin typeface="Segoe UI"/>
              </a:rPr>
              <a:t>8PSK/16QAM are SNR-limited — a link-budget problem.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>
                <a:solidFill>
                  <a:srgbClr val="37C8E8"/>
                </a:solidFill>
                <a:latin typeface="Segoe UI"/>
              </a:rPr>
              <a:t>▸  </a:t>
            </a:r>
            <a:r>
              <a:rPr sz="1400" b="0">
                <a:solidFill>
                  <a:srgbClr val="E8EEF5"/>
                </a:solidFill>
                <a:latin typeface="Segoe UI"/>
              </a:rPr>
              <a:t>Mode F delivered through an 8% hard-clip channel.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212080"/>
            <a:ext cx="10972800" cy="12801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5B741"/>
                </a:solidFill>
                <a:latin typeface="Segoe UI"/>
              </a:rPr>
              <a:t>Simulation control experiment:  </a:t>
            </a:r>
            <a:r>
              <a:rPr sz="1500" b="0" i="0">
                <a:solidFill>
                  <a:srgbClr val="E8EEF5"/>
                </a:solidFill>
                <a:latin typeface="Segoe UI"/>
              </a:rPr>
              <a:t>16QAM through simulated SBC + 25 dB noise decoded at 2.9% EVM with zero corrections — 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E8EEF5"/>
                </a:solidFill>
                <a:latin typeface="Segoe UI"/>
              </a:rPr>
              <a:t>proving the over-the-air failure is the radio's phase noise, not the codec or additive noise.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SOURCE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Where it lives in the code (src/lib/hamlib/)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10927080" cy="512064"/>
          </a:xfrm>
          <a:prstGeom prst="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27048"/>
            <a:ext cx="3291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Consolas"/>
              </a:rPr>
              <a:t>dart_modem.dart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527048"/>
            <a:ext cx="72237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EF5"/>
                </a:solidFill>
                <a:latin typeface="Segoe UI"/>
              </a:rPr>
              <a:t>Full TX/RX chain, frame &amp; header, 6-mode table, channel refinement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075688"/>
            <a:ext cx="10927080" cy="512064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93976"/>
            <a:ext cx="3291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Consolas"/>
              </a:rPr>
              <a:t>dart_ofdm.dart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2093976"/>
            <a:ext cx="72237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EF5"/>
                </a:solidFill>
                <a:latin typeface="Segoe UI"/>
              </a:rPr>
              <a:t>OFDM + DFT-spread, radix-2 FFT/IFFT, CP, equalizer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642616"/>
            <a:ext cx="10927080" cy="512064"/>
          </a:xfrm>
          <a:prstGeom prst="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60904"/>
            <a:ext cx="3291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Consolas"/>
              </a:rPr>
              <a:t>dart_constellation.dart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660904"/>
            <a:ext cx="72237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EF5"/>
                </a:solidFill>
                <a:latin typeface="Segoe UI"/>
              </a:rPr>
              <a:t>BPSK/QPSK/8PSK/16QAM map &amp; soft-LLR demap; Complex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9544"/>
            <a:ext cx="10927080" cy="512064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227832"/>
            <a:ext cx="3291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Consolas"/>
              </a:rPr>
              <a:t>dart_ldpc.dart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3227832"/>
            <a:ext cx="72237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EF5"/>
                </a:solidFill>
                <a:latin typeface="Segoe UI"/>
              </a:rPr>
              <a:t>LDPC encoder + min-sum belief-propagation soft decoder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776472"/>
            <a:ext cx="10927080" cy="512064"/>
          </a:xfrm>
          <a:prstGeom prst="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794760"/>
            <a:ext cx="3291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Consolas"/>
              </a:rPr>
              <a:t>dart_fsk.dart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3794760"/>
            <a:ext cx="72237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EF5"/>
                </a:solidFill>
                <a:latin typeface="Segoe UI"/>
              </a:rPr>
              <a:t>Constant-envelope 4-CPFSK modem for Mode 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43400"/>
            <a:ext cx="10927080" cy="512064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361688"/>
            <a:ext cx="3291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Consolas"/>
              </a:rPr>
              <a:t>dart_preamble.dart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4361688"/>
            <a:ext cx="72237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EF5"/>
                </a:solidFill>
                <a:latin typeface="Segoe UI"/>
              </a:rPr>
              <a:t>Zadoff-Chu preamble: detection, sync, channel estimation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910328"/>
            <a:ext cx="10927080" cy="512064"/>
          </a:xfrm>
          <a:prstGeom prst="rect">
            <a:avLst/>
          </a:prstGeom>
          <a:solidFill>
            <a:srgbClr val="141E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928616"/>
            <a:ext cx="3291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Consolas"/>
              </a:rPr>
              <a:t>dart_link.dart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928616"/>
            <a:ext cx="72237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EF5"/>
                </a:solidFill>
                <a:latin typeface="Segoe UI"/>
              </a:rPr>
              <a:t>Link layer: datagrams, selective-repeat ARQ, rate adaptation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" y="5477256"/>
            <a:ext cx="10927080" cy="512064"/>
          </a:xfrm>
          <a:prstGeom prst="rect">
            <a:avLst/>
          </a:prstGeom>
          <a:solidFill>
            <a:srgbClr val="1620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495544"/>
            <a:ext cx="329184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C8E8"/>
                </a:solidFill>
                <a:latin typeface="Consolas"/>
              </a:rPr>
              <a:t>dart_packet_info.dart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06240" y="5495544"/>
            <a:ext cx="7223760" cy="475488"/>
          </a:xfrm>
          <a:prstGeom prst="rect">
            <a:avLst/>
          </a:prstGeom>
          <a:noFill/>
        </p:spPr>
        <p:txBody>
          <a:bodyPr wrap="square" anchor="ctr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8EEF5"/>
                </a:solidFill>
                <a:latin typeface="Segoe UI"/>
              </a:rPr>
              <a:t>Per-packet metadata &amp; signal quality for the capture tab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89904"/>
            <a:ext cx="10972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9AA8BD"/>
                </a:solidFill>
                <a:latin typeface="Segoe UI"/>
              </a:rPr>
              <a:t>Integrated via software_modem.dart (Audio → Software Modem → DART) — rides the same 32 kHz broker flow as AFSK 1200 and PSK 2400.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21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4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9728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7C8E8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8EEF5"/>
                </a:solidFill>
                <a:latin typeface="Segoe UI"/>
              </a:rPr>
              <a:t>DART in one slide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70432"/>
            <a:ext cx="1463040" cy="5080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Adaptive DFT-spread OFDM + LDPC for FM voice radios.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9 subcarriers in 400–2600 Hz; 32 kHz / 16-bit mono.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Seven self-describing modes: BPSK → 16QAM, plus 4-FSK floor.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Robust mode-0 header → any receiver decodes any frame.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Decision-directed refinement + pilots beat SBC phase noise.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Scrambling, code shortening, MMSE, short CP — all measured.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600">
                <a:solidFill>
                  <a:srgbClr val="37C8E8"/>
                </a:solidFill>
                <a:latin typeface="Segoe UI"/>
              </a:rPr>
              <a:t>▸  </a:t>
            </a:r>
            <a:r>
              <a:rPr sz="1600" b="0">
                <a:solidFill>
                  <a:srgbClr val="E8EEF5"/>
                </a:solidFill>
                <a:latin typeface="Segoe UI"/>
              </a:rPr>
              <a:t>Link layer: datagrams, selective-repeat ARQ, rate ladder.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1600200"/>
            <a:ext cx="4937760" cy="96012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0" y="1600200"/>
            <a:ext cx="82296" cy="960120"/>
          </a:xfrm>
          <a:prstGeom prst="rect">
            <a:avLst/>
          </a:prstGeom>
          <a:solidFill>
            <a:srgbClr val="5BD6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0" y="1709928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5BD68A"/>
                </a:solidFill>
                <a:latin typeface="Segoe UI"/>
              </a:rPr>
              <a:t>~3 kbps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reliable over-the-air ceiling (QPSK R2/3)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0" y="2697480"/>
            <a:ext cx="4937760" cy="96012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0" y="2697480"/>
            <a:ext cx="82296" cy="96012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807208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7C8E8"/>
                </a:solidFill>
                <a:latin typeface="Segoe UI"/>
              </a:rPr>
              <a:t>6 modes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4612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all pass encode→SBC→noise→decode in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3794760"/>
            <a:ext cx="4937760" cy="96012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3794760"/>
            <a:ext cx="82296" cy="960120"/>
          </a:xfrm>
          <a:prstGeom prst="rect">
            <a:avLst/>
          </a:prstGeom>
          <a:solidFill>
            <a:srgbClr val="F5B7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904488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F5B741"/>
                </a:solidFill>
                <a:latin typeface="Segoe UI"/>
              </a:rPr>
              <a:t>5+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34340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margin from code shortening on short frames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4892040"/>
            <a:ext cx="4937760" cy="960120"/>
          </a:xfrm>
          <a:prstGeom prst="rect">
            <a:avLst/>
          </a:prstGeom>
          <a:solidFill>
            <a:srgbClr val="162033"/>
          </a:solidFill>
          <a:ln w="12700">
            <a:solidFill>
              <a:srgbClr val="2A38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4892040"/>
            <a:ext cx="82296" cy="960120"/>
          </a:xfrm>
          <a:prstGeom prst="rect">
            <a:avLst/>
          </a:prstGeom>
          <a:solidFill>
            <a:srgbClr val="37C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5001768"/>
            <a:ext cx="45720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37C8E8"/>
                </a:solidFill>
                <a:latin typeface="Segoe UI"/>
              </a:rPr>
              <a:t>0.5–1.6°/sym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5440680"/>
            <a:ext cx="45720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9AA8BD"/>
                </a:solidFill>
                <a:latin typeface="Segoe UI"/>
              </a:rPr>
              <a:t>real-link phase drift — tracked by pilots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38560" y="6446520"/>
            <a:ext cx="73152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6446520"/>
            <a:ext cx="457200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9AA8BD"/>
                </a:solidFill>
                <a:latin typeface="Segoe UI"/>
              </a:rPr>
              <a:t>DART — Data Adaptive Rate Transport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